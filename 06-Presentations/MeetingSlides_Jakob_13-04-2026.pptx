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7" r:id="rId2"/>
    <p:sldId id="325" r:id="rId3"/>
    <p:sldId id="355" r:id="rId4"/>
    <p:sldId id="348" r:id="rId5"/>
    <p:sldId id="349" r:id="rId6"/>
    <p:sldId id="354" r:id="rId7"/>
    <p:sldId id="353" r:id="rId8"/>
    <p:sldId id="350" r:id="rId9"/>
    <p:sldId id="351" r:id="rId10"/>
    <p:sldId id="356" r:id="rId11"/>
    <p:sldId id="357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5146"/>
    <a:srgbClr val="0424FF"/>
    <a:srgbClr val="A59A38"/>
    <a:srgbClr val="9762C0"/>
    <a:srgbClr val="AC00A4"/>
    <a:srgbClr val="D61A1C"/>
    <a:srgbClr val="D9201E"/>
    <a:srgbClr val="839A40"/>
    <a:srgbClr val="FF7A02"/>
    <a:srgbClr val="EA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E817-5185-0F47-BA40-1C39CF549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9A41F-DBC7-A2F8-0DA9-130AF78BE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B4D1-EAA3-2981-9390-8B20C0C5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C181-16F0-F4C9-F4E3-2AFC4E7F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9214-0A62-AC69-3568-74926CE8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04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6F47-4336-7B20-EF66-B8DC900E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88984-A03B-4E7F-2845-1831489C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8F1F1-0F95-3D0F-90D5-79898281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5C05D-9A88-E961-67CA-C2EAB2B9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8139-896D-60FC-83BF-17630B00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117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C70C-390C-4A29-7059-36256080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52EA7-C79F-57F9-9E34-78803F372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65C05-86BC-3DE3-2784-7E262262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8194-9888-4789-967A-77040BE6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2F890-DE29-0789-A470-B836DE42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88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11E2-63F1-7E73-22B6-41F85F62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E199-E866-7634-8AC7-F7E8B7100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1D7CC-F70B-6566-E148-31786C4FE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414B0-C040-7657-13F9-E1471BAE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77A89-CAE7-2C2D-7919-C0544959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CCD27-AB6B-5C90-9F71-41A42F5E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2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4143-7628-163C-8549-C7E69356A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22010-4999-B8A6-0072-225424BD0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7B044-A514-8521-6F14-3442BA810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247C6-C9EA-E89B-24BC-8D3982DC1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4074C-49BF-76E7-5983-6773DDD9C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07AC7-0E4C-BD37-B44F-B4EEA301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9D6D7-E746-BD52-DAB9-2A260E1C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4FA84-C57A-0245-3FD5-F26FFEA4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02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B986-BDE4-DB47-0946-C218990F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FDC15-58AE-EB79-9531-9738F3CE7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72F54-08C7-56E1-595C-05229775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665EE-2BDA-0D87-D80D-E6476620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8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CF035-6151-33F0-5DBA-6CD99433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BF449-A259-1D95-3F84-36C2600C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20372-D726-3FEC-CCD2-0423CFA9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64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19B1-FC39-7034-B6CC-6BBA0BD7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4338-4BF5-0B97-5BFE-9BDFFF9E5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4F7AD-50F6-6137-5BF5-489050001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17C64-C0B5-D214-6BD9-FD02CE11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0ADA2-D349-78AC-4DA9-D964CE67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F57E-CD80-BD90-10C3-4537D45E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38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86D5-89CC-41F9-AD35-D5304063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9D355-92D5-D022-4A04-49DAF6C0B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45167-BB3A-29C5-5A35-41C66B928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603B1-047A-68C7-C6A0-A674DD40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C1D74-8313-47D7-6A8F-B6ACE8C6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F7461-A281-66B6-9082-ECD82F14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0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C04F-2DC3-7173-F08D-B20A0D60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C830D-188B-19DD-F5C3-F203CA69D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0AE2-FB87-3CC3-E6AC-3297AE12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98E5-761D-385E-E286-4595070A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E4AE-2E6D-9E63-9730-67163FDB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30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EBDFA-EC6D-E098-333C-625C1F415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4BE63-FCCB-7421-CFC5-DFFA32047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4118-83E6-8C07-101D-77501075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65AB1-2B3D-2509-0FDB-7ADF20B7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C059-377D-DF0F-592E-21551EDE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60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0F799-88B9-50AB-35FC-498C7F08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52058-C61E-850F-C461-184FCD853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86D9-84B0-25B1-B585-0F6A13BDA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B584B-9982-6848-9DE0-0488A67EB373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CB65-E113-6791-96D5-155C5EB4F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B19A-7573-27D5-61B1-B1C9FB7A0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A1B9E-5F8C-4E45-BC63-1AB4AF6AD6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77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6B54BF-F8AC-59E2-8E46-A278D6B4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6" y="1194134"/>
            <a:ext cx="11300986" cy="4714289"/>
          </a:xfrm>
          <a:prstGeom prst="rect">
            <a:avLst/>
          </a:prstGeom>
        </p:spPr>
      </p:pic>
      <p:sp>
        <p:nvSpPr>
          <p:cNvPr id="9" name="Textfeld 9">
            <a:extLst>
              <a:ext uri="{FF2B5EF4-FFF2-40B4-BE49-F238E27FC236}">
                <a16:creationId xmlns:a16="http://schemas.microsoft.com/office/drawing/2014/main" id="{F4CAA052-5654-CA62-B7AB-2323EE768E05}"/>
              </a:ext>
            </a:extLst>
          </p:cNvPr>
          <p:cNvSpPr txBox="1"/>
          <p:nvPr/>
        </p:nvSpPr>
        <p:spPr>
          <a:xfrm>
            <a:off x="161876" y="-170823"/>
            <a:ext cx="11951102" cy="780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300" b="1" dirty="0">
                <a:effectLst/>
                <a:latin typeface="Helvetica" pitchFamily="2" charset="0"/>
              </a:rPr>
              <a:t>Model of TCR trafficking</a:t>
            </a:r>
            <a:endParaRPr lang="en-GB" sz="3300" b="1" dirty="0">
              <a:effectLst/>
              <a:latin typeface="Helvetica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249528-B55C-F543-B9A8-B8865B069723}"/>
              </a:ext>
            </a:extLst>
          </p:cNvPr>
          <p:cNvCxnSpPr>
            <a:cxnSpLocks/>
          </p:cNvCxnSpPr>
          <p:nvPr/>
        </p:nvCxnSpPr>
        <p:spPr>
          <a:xfrm>
            <a:off x="0" y="653144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59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2D6DD9FF-76A1-058B-6B54-00EB32BA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6FDAE6E-AF8B-8746-B6EC-23F066CFE9B5}" type="slidenum">
              <a:rPr lang="de-DE" smtClean="0"/>
              <a:t>2</a:t>
            </a:fld>
            <a:endParaRPr lang="de-DE"/>
          </a:p>
        </p:txBody>
      </p:sp>
      <p:sp>
        <p:nvSpPr>
          <p:cNvPr id="225" name="Textfeld 9">
            <a:extLst>
              <a:ext uri="{FF2B5EF4-FFF2-40B4-BE49-F238E27FC236}">
                <a16:creationId xmlns:a16="http://schemas.microsoft.com/office/drawing/2014/main" id="{2318ECC1-922E-D59E-B68C-B612537F0178}"/>
              </a:ext>
            </a:extLst>
          </p:cNvPr>
          <p:cNvSpPr txBox="1"/>
          <p:nvPr/>
        </p:nvSpPr>
        <p:spPr>
          <a:xfrm>
            <a:off x="161876" y="-170823"/>
            <a:ext cx="11951102" cy="78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300" b="1" dirty="0" err="1">
                <a:effectLst/>
                <a:latin typeface="Helvetica" pitchFamily="2" charset="0"/>
              </a:rPr>
              <a:t>Syndapin</a:t>
            </a:r>
            <a:r>
              <a:rPr lang="en-GB" sz="3300" b="1" dirty="0">
                <a:effectLst/>
                <a:latin typeface="Helvetica" pitchFamily="2" charset="0"/>
              </a:rPr>
              <a:t> 2 is a new member of the TCR signalosomes.</a:t>
            </a:r>
            <a:endParaRPr lang="en-GB" sz="3300" dirty="0">
              <a:effectLst/>
              <a:latin typeface="Helvetica" pitchFamily="2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3C1862EC-F75A-E15C-BE56-A0245AF1BB2D}"/>
              </a:ext>
            </a:extLst>
          </p:cNvPr>
          <p:cNvCxnSpPr/>
          <p:nvPr/>
        </p:nvCxnSpPr>
        <p:spPr>
          <a:xfrm>
            <a:off x="0" y="653143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6B0CC6-C535-31AE-36C9-EBDABC538335}"/>
              </a:ext>
            </a:extLst>
          </p:cNvPr>
          <p:cNvGrpSpPr/>
          <p:nvPr/>
        </p:nvGrpSpPr>
        <p:grpSpPr>
          <a:xfrm>
            <a:off x="2503503" y="2725448"/>
            <a:ext cx="6915705" cy="2689925"/>
            <a:chOff x="161876" y="1717842"/>
            <a:chExt cx="7393075" cy="204785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838D1F3-C6D6-E0C4-C06E-55B3168D6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761" y="1731433"/>
              <a:ext cx="1556953" cy="133350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2BDEFCD-EE0D-86B7-D931-8DD0B44A3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151351" y="332486"/>
              <a:ext cx="1371600" cy="543560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3242EB-B94A-8C06-FB30-59BAD7AD58AF}"/>
                </a:ext>
              </a:extLst>
            </p:cNvPr>
            <p:cNvSpPr/>
            <p:nvPr/>
          </p:nvSpPr>
          <p:spPr>
            <a:xfrm>
              <a:off x="6986766" y="3482993"/>
              <a:ext cx="568185" cy="2827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8201A4-A945-6E4E-CEDF-4767FB36501C}"/>
                </a:ext>
              </a:extLst>
            </p:cNvPr>
            <p:cNvSpPr/>
            <p:nvPr/>
          </p:nvSpPr>
          <p:spPr>
            <a:xfrm>
              <a:off x="2670736" y="2183314"/>
              <a:ext cx="568185" cy="2827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feld 9">
              <a:extLst>
                <a:ext uri="{FF2B5EF4-FFF2-40B4-BE49-F238E27FC236}">
                  <a16:creationId xmlns:a16="http://schemas.microsoft.com/office/drawing/2014/main" id="{4204147C-2E7D-56A5-84E7-06D9E2773452}"/>
                </a:ext>
              </a:extLst>
            </p:cNvPr>
            <p:cNvSpPr txBox="1"/>
            <p:nvPr/>
          </p:nvSpPr>
          <p:spPr>
            <a:xfrm>
              <a:off x="3753605" y="2219965"/>
              <a:ext cx="2167092" cy="684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500" dirty="0">
                  <a:latin typeface="Helvetica" pitchFamily="2" charset="0"/>
                  <a:ea typeface="Calibri" panose="020F0502020204030204" pitchFamily="34" charset="0"/>
                </a:rPr>
                <a:t>F-Bar </a:t>
              </a:r>
              <a:r>
                <a:rPr lang="de-DE" sz="1500" u="sng" dirty="0" err="1">
                  <a:latin typeface="Helvetica" pitchFamily="2" charset="0"/>
                  <a:ea typeface="Calibri" panose="020F0502020204030204" pitchFamily="34" charset="0"/>
                </a:rPr>
                <a:t>domains</a:t>
              </a:r>
              <a:r>
                <a:rPr lang="de-DE" sz="1500" u="sng" dirty="0">
                  <a:latin typeface="Helvetica" pitchFamily="2" charset="0"/>
                  <a:ea typeface="Calibri" panose="020F0502020204030204" pitchFamily="34" charset="0"/>
                </a:rPr>
                <a:t> </a:t>
              </a:r>
              <a:r>
                <a:rPr lang="de-DE" sz="1500" u="sng" dirty="0" err="1">
                  <a:latin typeface="Helvetica" pitchFamily="2" charset="0"/>
                  <a:ea typeface="Calibri" panose="020F0502020204030204" pitchFamily="34" charset="0"/>
                </a:rPr>
                <a:t>of</a:t>
              </a:r>
              <a:r>
                <a:rPr lang="de-DE" sz="1500" u="sng" dirty="0">
                  <a:latin typeface="Helvetica" pitchFamily="2" charset="0"/>
                  <a:ea typeface="Calibri" panose="020F0502020204030204" pitchFamily="34" charset="0"/>
                </a:rPr>
                <a:t> </a:t>
              </a:r>
              <a:r>
                <a:rPr lang="de-DE" sz="1500" u="sng" dirty="0" err="1">
                  <a:latin typeface="Helvetica" pitchFamily="2" charset="0"/>
                  <a:ea typeface="Calibri" panose="020F0502020204030204" pitchFamily="34" charset="0"/>
                </a:rPr>
                <a:t>syndapin</a:t>
              </a:r>
              <a:r>
                <a:rPr lang="de-DE" sz="1500" u="sng" dirty="0">
                  <a:latin typeface="Helvetica" pitchFamily="2" charset="0"/>
                  <a:ea typeface="Calibri" panose="020F0502020204030204" pitchFamily="34" charset="0"/>
                </a:rPr>
                <a:t> dimer</a:t>
              </a:r>
              <a:endParaRPr lang="de-DE" sz="1500" u="sng" dirty="0"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3" name="Textfeld 9">
              <a:extLst>
                <a:ext uri="{FF2B5EF4-FFF2-40B4-BE49-F238E27FC236}">
                  <a16:creationId xmlns:a16="http://schemas.microsoft.com/office/drawing/2014/main" id="{62991785-C325-6A14-ED6C-15DAE0AF1531}"/>
                </a:ext>
              </a:extLst>
            </p:cNvPr>
            <p:cNvSpPr txBox="1"/>
            <p:nvPr/>
          </p:nvSpPr>
          <p:spPr>
            <a:xfrm>
              <a:off x="1587190" y="1717842"/>
              <a:ext cx="2167092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de-DE" sz="1500" dirty="0">
                  <a:solidFill>
                    <a:srgbClr val="AC00A4"/>
                  </a:solidFill>
                  <a:latin typeface="Helvetica" pitchFamily="2" charset="0"/>
                  <a:ea typeface="Calibri" panose="020F0502020204030204" pitchFamily="34" charset="0"/>
                </a:rPr>
                <a:t>SH3 </a:t>
              </a:r>
              <a:r>
                <a:rPr lang="de-DE" sz="1500" dirty="0" err="1">
                  <a:solidFill>
                    <a:srgbClr val="AC00A4"/>
                  </a:solidFill>
                  <a:latin typeface="Helvetica" pitchFamily="2" charset="0"/>
                  <a:ea typeface="Calibri" panose="020F0502020204030204" pitchFamily="34" charset="0"/>
                </a:rPr>
                <a:t>domain</a:t>
              </a:r>
              <a:endParaRPr lang="de-DE" sz="1500" dirty="0">
                <a:solidFill>
                  <a:srgbClr val="AC00A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Textfeld 9">
              <a:extLst>
                <a:ext uri="{FF2B5EF4-FFF2-40B4-BE49-F238E27FC236}">
                  <a16:creationId xmlns:a16="http://schemas.microsoft.com/office/drawing/2014/main" id="{CEE14653-CA16-1B38-FDF5-5E76CB521E5D}"/>
                </a:ext>
              </a:extLst>
            </p:cNvPr>
            <p:cNvSpPr txBox="1"/>
            <p:nvPr/>
          </p:nvSpPr>
          <p:spPr>
            <a:xfrm>
              <a:off x="161876" y="3105164"/>
              <a:ext cx="216709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5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  <a:ea typeface="Calibri" panose="020F0502020204030204" pitchFamily="34" charset="0"/>
                </a:rPr>
                <a:t>CD3</a:t>
              </a:r>
              <a:r>
                <a:rPr lang="de-DE" sz="1500" dirty="0">
                  <a:solidFill>
                    <a:schemeClr val="bg1">
                      <a:lumMod val="50000"/>
                    </a:schemeClr>
                  </a:solidFill>
                  <a:latin typeface="Symbol" pitchFamily="2" charset="2"/>
                  <a:ea typeface="Calibri" panose="020F0502020204030204" pitchFamily="34" charset="0"/>
                </a:rPr>
                <a:t>e</a:t>
              </a:r>
              <a:r>
                <a:rPr lang="de-DE" sz="15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  <a:ea typeface="Calibri" panose="020F0502020204030204" pitchFamily="34" charset="0"/>
                </a:rPr>
                <a:t> poly-</a:t>
              </a:r>
              <a:r>
                <a:rPr lang="de-DE" sz="1500" dirty="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  <a:ea typeface="Calibri" panose="020F0502020204030204" pitchFamily="34" charset="0"/>
                </a:rPr>
                <a:t>proline</a:t>
              </a:r>
              <a:r>
                <a:rPr lang="de-DE" sz="15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  <a:ea typeface="Calibri" panose="020F0502020204030204" pitchFamily="34" charset="0"/>
                </a:rPr>
                <a:t> </a:t>
              </a:r>
              <a:r>
                <a:rPr lang="de-DE" sz="1500" dirty="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  <a:ea typeface="Calibri" panose="020F0502020204030204" pitchFamily="34" charset="0"/>
                </a:rPr>
                <a:t>region</a:t>
              </a:r>
              <a:endParaRPr lang="de-DE" sz="15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943777-72E5-DB11-FC8A-7437D0B651DE}"/>
                </a:ext>
              </a:extLst>
            </p:cNvPr>
            <p:cNvSpPr/>
            <p:nvPr/>
          </p:nvSpPr>
          <p:spPr>
            <a:xfrm>
              <a:off x="1437966" y="2883487"/>
              <a:ext cx="277280" cy="137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05354E-13D5-3143-04EE-16CA466EB787}"/>
                </a:ext>
              </a:extLst>
            </p:cNvPr>
            <p:cNvSpPr/>
            <p:nvPr/>
          </p:nvSpPr>
          <p:spPr>
            <a:xfrm>
              <a:off x="412750" y="2985795"/>
              <a:ext cx="448421" cy="137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358E9C2-58C9-0D79-0BBD-9F12A6750560}"/>
                </a:ext>
              </a:extLst>
            </p:cNvPr>
            <p:cNvSpPr/>
            <p:nvPr/>
          </p:nvSpPr>
          <p:spPr>
            <a:xfrm>
              <a:off x="217045" y="2845978"/>
              <a:ext cx="448421" cy="137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95E2756-ADB9-8DF2-3649-F2A2E36D7E09}"/>
                </a:ext>
              </a:extLst>
            </p:cNvPr>
            <p:cNvSpPr/>
            <p:nvPr/>
          </p:nvSpPr>
          <p:spPr>
            <a:xfrm>
              <a:off x="441255" y="2573110"/>
              <a:ext cx="252716" cy="137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A452C3-BAE5-2391-4886-B98A510CB006}"/>
                </a:ext>
              </a:extLst>
            </p:cNvPr>
            <p:cNvSpPr/>
            <p:nvPr/>
          </p:nvSpPr>
          <p:spPr>
            <a:xfrm>
              <a:off x="1194508" y="2599288"/>
              <a:ext cx="71811" cy="1089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6B95466-5CEE-6477-028A-93D313D202AA}"/>
                </a:ext>
              </a:extLst>
            </p:cNvPr>
            <p:cNvSpPr/>
            <p:nvPr/>
          </p:nvSpPr>
          <p:spPr>
            <a:xfrm>
              <a:off x="1295146" y="2420066"/>
              <a:ext cx="925540" cy="658093"/>
            </a:xfrm>
            <a:custGeom>
              <a:avLst/>
              <a:gdLst>
                <a:gd name="connsiteX0" fmla="*/ 925540 w 925540"/>
                <a:gd name="connsiteY0" fmla="*/ 0 h 658093"/>
                <a:gd name="connsiteX1" fmla="*/ 739910 w 925540"/>
                <a:gd name="connsiteY1" fmla="*/ 185630 h 658093"/>
                <a:gd name="connsiteX2" fmla="*/ 636782 w 925540"/>
                <a:gd name="connsiteY2" fmla="*/ 618767 h 658093"/>
                <a:gd name="connsiteX3" fmla="*/ 93642 w 925540"/>
                <a:gd name="connsiteY3" fmla="*/ 632517 h 658093"/>
                <a:gd name="connsiteX4" fmla="*/ 4265 w 925540"/>
                <a:gd name="connsiteY4" fmla="*/ 570641 h 65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540" h="658093">
                  <a:moveTo>
                    <a:pt x="925540" y="0"/>
                  </a:moveTo>
                  <a:cubicBezTo>
                    <a:pt x="856788" y="41251"/>
                    <a:pt x="788036" y="82502"/>
                    <a:pt x="739910" y="185630"/>
                  </a:cubicBezTo>
                  <a:cubicBezTo>
                    <a:pt x="691784" y="288758"/>
                    <a:pt x="744493" y="544286"/>
                    <a:pt x="636782" y="618767"/>
                  </a:cubicBezTo>
                  <a:cubicBezTo>
                    <a:pt x="529071" y="693248"/>
                    <a:pt x="199061" y="640538"/>
                    <a:pt x="93642" y="632517"/>
                  </a:cubicBezTo>
                  <a:cubicBezTo>
                    <a:pt x="-11777" y="624496"/>
                    <a:pt x="-3756" y="597568"/>
                    <a:pt x="4265" y="570641"/>
                  </a:cubicBezTo>
                </a:path>
              </a:pathLst>
            </a:custGeom>
            <a:noFill/>
            <a:ln w="19050">
              <a:solidFill>
                <a:srgbClr val="AC00A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D81C27-C2C6-D18A-3C26-3CE11D8B2648}"/>
              </a:ext>
            </a:extLst>
          </p:cNvPr>
          <p:cNvGrpSpPr/>
          <p:nvPr/>
        </p:nvGrpSpPr>
        <p:grpSpPr>
          <a:xfrm>
            <a:off x="2361802" y="1447397"/>
            <a:ext cx="1335394" cy="944162"/>
            <a:chOff x="441255" y="706689"/>
            <a:chExt cx="1335394" cy="94416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9DE7555-5955-31AE-3AA9-011601A76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255" y="706689"/>
              <a:ext cx="1184946" cy="92230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39494DD-625F-A54E-1E55-66645F1FE222}"/>
                </a:ext>
              </a:extLst>
            </p:cNvPr>
            <p:cNvSpPr/>
            <p:nvPr/>
          </p:nvSpPr>
          <p:spPr>
            <a:xfrm>
              <a:off x="1277236" y="1462092"/>
              <a:ext cx="363025" cy="1887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0B19CAC-F8A0-486A-8B85-D3F8E0BBE20F}"/>
                </a:ext>
              </a:extLst>
            </p:cNvPr>
            <p:cNvSpPr/>
            <p:nvPr/>
          </p:nvSpPr>
          <p:spPr>
            <a:xfrm>
              <a:off x="1413624" y="1294477"/>
              <a:ext cx="363025" cy="1887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Freeform 36">
            <a:extLst>
              <a:ext uri="{FF2B5EF4-FFF2-40B4-BE49-F238E27FC236}">
                <a16:creationId xmlns:a16="http://schemas.microsoft.com/office/drawing/2014/main" id="{AB17D0C3-3FE4-751E-256D-EBEF87C2F660}"/>
              </a:ext>
            </a:extLst>
          </p:cNvPr>
          <p:cNvSpPr/>
          <p:nvPr/>
        </p:nvSpPr>
        <p:spPr>
          <a:xfrm>
            <a:off x="2835096" y="2290914"/>
            <a:ext cx="90921" cy="598142"/>
          </a:xfrm>
          <a:custGeom>
            <a:avLst/>
            <a:gdLst>
              <a:gd name="connsiteX0" fmla="*/ 90921 w 90921"/>
              <a:gd name="connsiteY0" fmla="*/ 598142 h 598142"/>
              <a:gd name="connsiteX1" fmla="*/ 1544 w 90921"/>
              <a:gd name="connsiteY1" fmla="*/ 467513 h 598142"/>
              <a:gd name="connsiteX2" fmla="*/ 42795 w 90921"/>
              <a:gd name="connsiteY2" fmla="*/ 0 h 598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921" h="598142">
                <a:moveTo>
                  <a:pt x="90921" y="598142"/>
                </a:moveTo>
                <a:cubicBezTo>
                  <a:pt x="50243" y="582672"/>
                  <a:pt x="9565" y="567203"/>
                  <a:pt x="1544" y="467513"/>
                </a:cubicBezTo>
                <a:cubicBezTo>
                  <a:pt x="-6477" y="367823"/>
                  <a:pt x="18159" y="183911"/>
                  <a:pt x="42795" y="0"/>
                </a:cubicBezTo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1F4530-DB71-2E18-0F0E-79C7DE5149D5}"/>
              </a:ext>
            </a:extLst>
          </p:cNvPr>
          <p:cNvSpPr/>
          <p:nvPr/>
        </p:nvSpPr>
        <p:spPr>
          <a:xfrm>
            <a:off x="462840" y="720838"/>
            <a:ext cx="363025" cy="188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E2BBC-48C8-EEFF-AB22-844397B59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Degradation </a:t>
            </a:r>
            <a:r>
              <a:rPr lang="de-DE" dirty="0" err="1"/>
              <a:t>of</a:t>
            </a:r>
            <a:r>
              <a:rPr lang="de-DE" dirty="0"/>
              <a:t> TCR in </a:t>
            </a:r>
            <a:r>
              <a:rPr lang="de-DE" dirty="0" err="1"/>
              <a:t>solution</a:t>
            </a:r>
            <a:endParaRPr lang="de-D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DBD804A-613A-2FFB-7F22-4B0913A87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40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62E8-B09F-275E-9C0E-BF7D828B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and </a:t>
            </a:r>
            <a:r>
              <a:rPr lang="de-DE" dirty="0" err="1"/>
              <a:t>materials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6D7F-85E6-5BBC-E5A5-43B33A51F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Jurkat-shCtrl</a:t>
            </a:r>
            <a:r>
              <a:rPr lang="de-DE" dirty="0"/>
              <a:t> and Jurkat-shSDP2</a:t>
            </a:r>
          </a:p>
          <a:p>
            <a:r>
              <a:rPr lang="de-DE" dirty="0" err="1"/>
              <a:t>Stained</a:t>
            </a:r>
            <a:r>
              <a:rPr lang="de-DE" dirty="0"/>
              <a:t> on </a:t>
            </a:r>
            <a:r>
              <a:rPr lang="de-DE" dirty="0" err="1"/>
              <a:t>ice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OKT3 </a:t>
            </a:r>
            <a:r>
              <a:rPr lang="de-DE" dirty="0" err="1"/>
              <a:t>antibody</a:t>
            </a:r>
            <a:r>
              <a:rPr lang="de-DE" dirty="0"/>
              <a:t> (1 </a:t>
            </a:r>
            <a:r>
              <a:rPr lang="de-DE" dirty="0" err="1"/>
              <a:t>ug</a:t>
            </a:r>
            <a:r>
              <a:rPr lang="de-DE" dirty="0"/>
              <a:t>/</a:t>
            </a:r>
            <a:r>
              <a:rPr lang="de-DE" dirty="0" err="1"/>
              <a:t>mL</a:t>
            </a:r>
            <a:r>
              <a:rPr lang="de-DE" dirty="0"/>
              <a:t>)</a:t>
            </a:r>
          </a:p>
          <a:p>
            <a:r>
              <a:rPr lang="de-DE" dirty="0" err="1"/>
              <a:t>Stimulated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2, 4, 6, 10 and 12 </a:t>
            </a:r>
            <a:r>
              <a:rPr lang="de-DE" dirty="0" err="1"/>
              <a:t>hours</a:t>
            </a:r>
            <a:r>
              <a:rPr lang="de-DE" dirty="0"/>
              <a:t> at 37 </a:t>
            </a:r>
            <a:r>
              <a:rPr lang="de-DE" dirty="0" err="1"/>
              <a:t>degree</a:t>
            </a:r>
            <a:r>
              <a:rPr lang="de-DE" dirty="0"/>
              <a:t> </a:t>
            </a:r>
            <a:r>
              <a:rPr lang="de-DE" dirty="0" err="1"/>
              <a:t>incubator</a:t>
            </a:r>
            <a:endParaRPr lang="de-DE" dirty="0"/>
          </a:p>
          <a:p>
            <a:r>
              <a:rPr lang="de-DE" dirty="0"/>
              <a:t>200.000 </a:t>
            </a:r>
            <a:r>
              <a:rPr lang="de-DE" dirty="0" err="1"/>
              <a:t>cells</a:t>
            </a:r>
            <a:r>
              <a:rPr lang="de-DE" dirty="0"/>
              <a:t>/sample</a:t>
            </a:r>
          </a:p>
          <a:p>
            <a:r>
              <a:rPr lang="de-DE" dirty="0"/>
              <a:t>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stimulation</a:t>
            </a:r>
            <a:r>
              <a:rPr lang="de-DE" dirty="0"/>
              <a:t> = Transfer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96-well </a:t>
            </a:r>
            <a:r>
              <a:rPr lang="de-DE" dirty="0" err="1"/>
              <a:t>plate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ice</a:t>
            </a:r>
            <a:r>
              <a:rPr lang="de-DE" dirty="0"/>
              <a:t> </a:t>
            </a:r>
            <a:r>
              <a:rPr lang="de-DE" dirty="0" err="1"/>
              <a:t>cold</a:t>
            </a:r>
            <a:r>
              <a:rPr lang="de-DE" dirty="0"/>
              <a:t> PBS.</a:t>
            </a:r>
          </a:p>
        </p:txBody>
      </p:sp>
    </p:spTree>
    <p:extLst>
      <p:ext uri="{BB962C8B-B14F-4D97-AF65-F5344CB8AC3E}">
        <p14:creationId xmlns:p14="http://schemas.microsoft.com/office/powerpoint/2010/main" val="3224967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9492-A8B5-E424-3869-4820B03C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Intracellular</a:t>
            </a:r>
            <a:r>
              <a:rPr lang="de-DE" dirty="0"/>
              <a:t> </a:t>
            </a:r>
            <a:r>
              <a:rPr lang="de-DE" dirty="0" err="1"/>
              <a:t>stain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115FF-E94C-30E3-F747-516D32AF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Life-Death </a:t>
            </a:r>
            <a:r>
              <a:rPr lang="de-DE" dirty="0" err="1"/>
              <a:t>stain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efluor506 (1:1000)</a:t>
            </a:r>
          </a:p>
          <a:p>
            <a:r>
              <a:rPr lang="de-DE" dirty="0"/>
              <a:t>Fixation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cells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bd</a:t>
            </a:r>
            <a:r>
              <a:rPr lang="de-DE" dirty="0"/>
              <a:t> </a:t>
            </a:r>
            <a:r>
              <a:rPr lang="de-DE" dirty="0" err="1"/>
              <a:t>fixation</a:t>
            </a:r>
            <a:r>
              <a:rPr lang="de-DE" dirty="0"/>
              <a:t> kit</a:t>
            </a:r>
          </a:p>
          <a:p>
            <a:r>
              <a:rPr lang="de-DE" dirty="0"/>
              <a:t>Okt3 </a:t>
            </a:r>
            <a:r>
              <a:rPr lang="de-DE" dirty="0" err="1"/>
              <a:t>antibody</a:t>
            </a:r>
            <a:r>
              <a:rPr lang="de-DE" dirty="0"/>
              <a:t> </a:t>
            </a:r>
            <a:r>
              <a:rPr lang="de-DE" dirty="0" err="1"/>
              <a:t>stain</a:t>
            </a:r>
            <a:r>
              <a:rPr lang="de-DE" dirty="0"/>
              <a:t> (1:40)</a:t>
            </a:r>
          </a:p>
          <a:p>
            <a:r>
              <a:rPr lang="de-DE" dirty="0" err="1"/>
              <a:t>mIgG</a:t>
            </a:r>
            <a:r>
              <a:rPr lang="de-DE" dirty="0"/>
              <a:t> </a:t>
            </a:r>
            <a:r>
              <a:rPr lang="de-DE" dirty="0" err="1"/>
              <a:t>antibody</a:t>
            </a:r>
            <a:r>
              <a:rPr lang="de-DE" dirty="0"/>
              <a:t> </a:t>
            </a:r>
            <a:r>
              <a:rPr lang="de-DE" dirty="0" err="1"/>
              <a:t>stain</a:t>
            </a:r>
            <a:r>
              <a:rPr lang="de-DE" dirty="0"/>
              <a:t> (1:500)</a:t>
            </a:r>
          </a:p>
          <a:p>
            <a:r>
              <a:rPr lang="de-DE" dirty="0" err="1"/>
              <a:t>Washing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FACS-Buffer (2% FCS, 98% PBS)</a:t>
            </a:r>
          </a:p>
          <a:p>
            <a:r>
              <a:rPr lang="de-DE" dirty="0"/>
              <a:t>All </a:t>
            </a:r>
            <a:r>
              <a:rPr lang="de-DE" dirty="0" err="1"/>
              <a:t>centrifugation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at 400g </a:t>
            </a:r>
            <a:r>
              <a:rPr lang="de-DE" dirty="0" err="1"/>
              <a:t>for</a:t>
            </a:r>
            <a:r>
              <a:rPr lang="de-DE" dirty="0"/>
              <a:t> 4 min</a:t>
            </a:r>
          </a:p>
        </p:txBody>
      </p:sp>
    </p:spTree>
    <p:extLst>
      <p:ext uri="{BB962C8B-B14F-4D97-AF65-F5344CB8AC3E}">
        <p14:creationId xmlns:p14="http://schemas.microsoft.com/office/powerpoint/2010/main" val="226805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D5EE88C-53C0-05E5-510A-9463BD7B8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723851"/>
              </p:ext>
            </p:extLst>
          </p:nvPr>
        </p:nvGraphicFramePr>
        <p:xfrm>
          <a:off x="435006" y="0"/>
          <a:ext cx="11332998" cy="6848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8" r:id="rId2" imgW="5206482" imgH="3147026" progId="Prism8.Document">
                  <p:embed/>
                </p:oleObj>
              </mc:Choice>
              <mc:Fallback>
                <p:oleObj name="Prism 8" r:id="rId2" imgW="5206482" imgH="3147026" progId="Prism8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5006" y="0"/>
                        <a:ext cx="11332998" cy="6848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6AFB1F-CF9D-47E7-BDBC-3FC4D166B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15832"/>
              </p:ext>
            </p:extLst>
          </p:nvPr>
        </p:nvGraphicFramePr>
        <p:xfrm>
          <a:off x="8526262" y="1328475"/>
          <a:ext cx="2893566" cy="2256696"/>
        </p:xfrm>
        <a:graphic>
          <a:graphicData uri="http://schemas.openxmlformats.org/drawingml/2006/table">
            <a:tbl>
              <a:tblPr/>
              <a:tblGrid>
                <a:gridCol w="1189305">
                  <a:extLst>
                    <a:ext uri="{9D8B030D-6E8A-4147-A177-3AD203B41FA5}">
                      <a16:colId xmlns:a16="http://schemas.microsoft.com/office/drawing/2014/main" val="2008415120"/>
                    </a:ext>
                  </a:extLst>
                </a:gridCol>
                <a:gridCol w="1704261">
                  <a:extLst>
                    <a:ext uri="{9D8B030D-6E8A-4147-A177-3AD203B41FA5}">
                      <a16:colId xmlns:a16="http://schemas.microsoft.com/office/drawing/2014/main" val="1086045676"/>
                    </a:ext>
                  </a:extLst>
                </a:gridCol>
              </a:tblGrid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11910"/>
                  </a:ext>
                </a:extLst>
              </a:tr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0,0233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498119"/>
                  </a:ext>
                </a:extLst>
              </a:tr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0,0543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203685"/>
                  </a:ext>
                </a:extLst>
              </a:tr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0,0275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662483"/>
                  </a:ext>
                </a:extLst>
              </a:tr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0,9132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44605"/>
                  </a:ext>
                </a:extLst>
              </a:tr>
              <a:tr h="376116"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effectLst/>
                          <a:latin typeface="Arial" panose="020B0604020202020204" pitchFamily="34" charset="0"/>
                        </a:rPr>
                        <a:t>0,9960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64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27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D9A5C29-57E0-DBB6-21AC-8C1AC976E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871437"/>
              </p:ext>
            </p:extLst>
          </p:nvPr>
        </p:nvGraphicFramePr>
        <p:xfrm>
          <a:off x="293649" y="346229"/>
          <a:ext cx="11818214" cy="6054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8" r:id="rId2" imgW="5803947" imgH="2973072" progId="Prism8.Document">
                  <p:embed/>
                </p:oleObj>
              </mc:Choice>
              <mc:Fallback>
                <p:oleObj name="Prism 8" r:id="rId2" imgW="5803947" imgH="2973072" progId="Prism8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3649" y="346229"/>
                        <a:ext cx="11818214" cy="6054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BB37D-84C9-23C3-6E49-FBE3D3AE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21155"/>
              </p:ext>
            </p:extLst>
          </p:nvPr>
        </p:nvGraphicFramePr>
        <p:xfrm>
          <a:off x="7875047" y="2495514"/>
          <a:ext cx="3186529" cy="3009570"/>
        </p:xfrm>
        <a:graphic>
          <a:graphicData uri="http://schemas.openxmlformats.org/drawingml/2006/table">
            <a:tbl>
              <a:tblPr/>
              <a:tblGrid>
                <a:gridCol w="1309717">
                  <a:extLst>
                    <a:ext uri="{9D8B030D-6E8A-4147-A177-3AD203B41FA5}">
                      <a16:colId xmlns:a16="http://schemas.microsoft.com/office/drawing/2014/main" val="353492163"/>
                    </a:ext>
                  </a:extLst>
                </a:gridCol>
                <a:gridCol w="1876812">
                  <a:extLst>
                    <a:ext uri="{9D8B030D-6E8A-4147-A177-3AD203B41FA5}">
                      <a16:colId xmlns:a16="http://schemas.microsoft.com/office/drawing/2014/main" val="29264055"/>
                    </a:ext>
                  </a:extLst>
                </a:gridCol>
              </a:tblGrid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 err="1">
                          <a:effectLst/>
                          <a:latin typeface="Arial" panose="020B0604020202020204" pitchFamily="34" charset="0"/>
                        </a:rPr>
                        <a:t>ns</a:t>
                      </a:r>
                      <a:endParaRPr lang="de-DE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0,1005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612044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0,0289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27285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0,6255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92539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0,5162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415453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0,2716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15171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0,6350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650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68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9848-95F0-07EF-8A0B-6092DFF38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Internalization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TCR in </a:t>
            </a:r>
            <a:r>
              <a:rPr lang="de-DE" dirty="0" err="1"/>
              <a:t>solution</a:t>
            </a:r>
            <a:endParaRPr lang="de-D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4268DA5-A082-3994-E1DB-EA77D3A8C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14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2127-DF75-B9D6-172C-BA29CDF5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and </a:t>
            </a:r>
            <a:r>
              <a:rPr lang="de-DE" dirty="0" err="1"/>
              <a:t>materials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60477-D655-6DD1-9671-264FD188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Jurkat-shCtrl</a:t>
            </a:r>
            <a:r>
              <a:rPr lang="de-DE" dirty="0"/>
              <a:t> and Jurkat-shSDP2</a:t>
            </a:r>
          </a:p>
          <a:p>
            <a:r>
              <a:rPr lang="de-DE" dirty="0" err="1"/>
              <a:t>Stained</a:t>
            </a:r>
            <a:r>
              <a:rPr lang="de-DE" dirty="0"/>
              <a:t> on </a:t>
            </a:r>
            <a:r>
              <a:rPr lang="de-DE" dirty="0" err="1"/>
              <a:t>ice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OKT3 </a:t>
            </a:r>
            <a:r>
              <a:rPr lang="de-DE" dirty="0" err="1"/>
              <a:t>antibody</a:t>
            </a:r>
            <a:r>
              <a:rPr lang="de-DE" dirty="0"/>
              <a:t> (1 </a:t>
            </a:r>
            <a:r>
              <a:rPr lang="de-DE" dirty="0" err="1"/>
              <a:t>ug</a:t>
            </a:r>
            <a:r>
              <a:rPr lang="de-DE" dirty="0"/>
              <a:t>/</a:t>
            </a:r>
            <a:r>
              <a:rPr lang="de-DE" dirty="0" err="1"/>
              <a:t>mL</a:t>
            </a:r>
            <a:r>
              <a:rPr lang="de-DE" dirty="0"/>
              <a:t>)</a:t>
            </a:r>
          </a:p>
          <a:p>
            <a:r>
              <a:rPr lang="de-DE" dirty="0" err="1"/>
              <a:t>Stimulated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5, 10, 30, 60, 90 and 120 </a:t>
            </a:r>
            <a:r>
              <a:rPr lang="de-DE" dirty="0" err="1"/>
              <a:t>minutes</a:t>
            </a:r>
            <a:r>
              <a:rPr lang="de-DE" dirty="0"/>
              <a:t> at 37 </a:t>
            </a:r>
            <a:r>
              <a:rPr lang="de-DE" dirty="0" err="1"/>
              <a:t>degree</a:t>
            </a:r>
            <a:r>
              <a:rPr lang="de-DE" dirty="0"/>
              <a:t> </a:t>
            </a:r>
            <a:r>
              <a:rPr lang="de-DE" dirty="0" err="1"/>
              <a:t>incubator</a:t>
            </a:r>
            <a:endParaRPr lang="de-DE" dirty="0"/>
          </a:p>
          <a:p>
            <a:r>
              <a:rPr lang="de-DE" dirty="0"/>
              <a:t>200.000 </a:t>
            </a:r>
            <a:r>
              <a:rPr lang="de-DE" dirty="0" err="1"/>
              <a:t>cells</a:t>
            </a:r>
            <a:r>
              <a:rPr lang="de-DE" dirty="0"/>
              <a:t>/sample</a:t>
            </a:r>
          </a:p>
          <a:p>
            <a:r>
              <a:rPr lang="de-DE" dirty="0"/>
              <a:t>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stimulation</a:t>
            </a:r>
            <a:r>
              <a:rPr lang="de-DE" dirty="0"/>
              <a:t> = Transfer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96-well </a:t>
            </a:r>
            <a:r>
              <a:rPr lang="de-DE" dirty="0" err="1"/>
              <a:t>plate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ice</a:t>
            </a:r>
            <a:r>
              <a:rPr lang="de-DE" dirty="0"/>
              <a:t> </a:t>
            </a:r>
            <a:r>
              <a:rPr lang="de-DE" dirty="0" err="1"/>
              <a:t>cold</a:t>
            </a:r>
            <a:r>
              <a:rPr lang="de-DE" dirty="0"/>
              <a:t> PBS.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93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0FE9-CA36-9DCE-A389-11E86C28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Extracellular</a:t>
            </a:r>
            <a:r>
              <a:rPr lang="de-DE" dirty="0"/>
              <a:t> </a:t>
            </a:r>
            <a:r>
              <a:rPr lang="de-DE" dirty="0" err="1"/>
              <a:t>stain</a:t>
            </a:r>
            <a:r>
              <a:rPr lang="de-DE" dirty="0"/>
              <a:t> (</a:t>
            </a:r>
            <a:r>
              <a:rPr lang="de-DE" dirty="0" err="1"/>
              <a:t>secondary</a:t>
            </a:r>
            <a:r>
              <a:rPr lang="de-DE" dirty="0"/>
              <a:t> </a:t>
            </a:r>
            <a:r>
              <a:rPr lang="de-DE" dirty="0" err="1"/>
              <a:t>antibody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2699-1213-A3D0-9126-A5018BC4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Life-Death </a:t>
            </a:r>
            <a:r>
              <a:rPr lang="de-DE" dirty="0" err="1"/>
              <a:t>stain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efluor506 (1:1000)</a:t>
            </a:r>
          </a:p>
          <a:p>
            <a:r>
              <a:rPr lang="de-DE" dirty="0" err="1"/>
              <a:t>mIgG</a:t>
            </a:r>
            <a:r>
              <a:rPr lang="de-DE" dirty="0"/>
              <a:t>-APC (1:500)</a:t>
            </a:r>
          </a:p>
          <a:p>
            <a:r>
              <a:rPr lang="de-DE" dirty="0" err="1"/>
              <a:t>Washing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FACS-Buffer</a:t>
            </a:r>
          </a:p>
          <a:p>
            <a:r>
              <a:rPr lang="de-DE" dirty="0"/>
              <a:t>All </a:t>
            </a:r>
            <a:r>
              <a:rPr lang="de-DE" dirty="0" err="1"/>
              <a:t>centrifugation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at 300g </a:t>
            </a:r>
            <a:r>
              <a:rPr lang="de-DE" dirty="0" err="1"/>
              <a:t>for</a:t>
            </a:r>
            <a:r>
              <a:rPr lang="de-DE" dirty="0"/>
              <a:t> 4 min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170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8113349-9F9F-520A-531F-024628FD7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813760"/>
              </p:ext>
            </p:extLst>
          </p:nvPr>
        </p:nvGraphicFramePr>
        <p:xfrm>
          <a:off x="932155" y="0"/>
          <a:ext cx="10367736" cy="682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8" r:id="rId2" imgW="5264464" imgH="3467203" progId="Prism8.Document">
                  <p:embed/>
                </p:oleObj>
              </mc:Choice>
              <mc:Fallback>
                <p:oleObj name="Prism 8" r:id="rId2" imgW="5264464" imgH="3467203" progId="Prism8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2155" y="0"/>
                        <a:ext cx="10367736" cy="682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CD5D04-AF1A-2E1C-CD14-396F2B0E0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00402"/>
              </p:ext>
            </p:extLst>
          </p:nvPr>
        </p:nvGraphicFramePr>
        <p:xfrm>
          <a:off x="8434341" y="2529034"/>
          <a:ext cx="2733767" cy="2841958"/>
        </p:xfrm>
        <a:graphic>
          <a:graphicData uri="http://schemas.openxmlformats.org/drawingml/2006/table">
            <a:tbl>
              <a:tblPr/>
              <a:tblGrid>
                <a:gridCol w="1123625">
                  <a:extLst>
                    <a:ext uri="{9D8B030D-6E8A-4147-A177-3AD203B41FA5}">
                      <a16:colId xmlns:a16="http://schemas.microsoft.com/office/drawing/2014/main" val="224014886"/>
                    </a:ext>
                  </a:extLst>
                </a:gridCol>
                <a:gridCol w="1610142">
                  <a:extLst>
                    <a:ext uri="{9D8B030D-6E8A-4147-A177-3AD203B41FA5}">
                      <a16:colId xmlns:a16="http://schemas.microsoft.com/office/drawing/2014/main" val="2837251011"/>
                    </a:ext>
                  </a:extLst>
                </a:gridCol>
              </a:tblGrid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356467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603684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59953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07691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707816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704714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>
                          <a:effectLst/>
                          <a:latin typeface="Arial" panose="020B0604020202020204" pitchFamily="34" charset="0"/>
                        </a:rPr>
                        <a:t>****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800" b="0" i="0" u="none" strike="noStrike" dirty="0">
                          <a:effectLst/>
                          <a:latin typeface="Arial" panose="020B0604020202020204" pitchFamily="34" charset="0"/>
                        </a:rPr>
                        <a:t>&lt;0,0001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03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35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Symbol</vt:lpstr>
      <vt:lpstr>Office Theme</vt:lpstr>
      <vt:lpstr>GraphPad Prism 8 Project</vt:lpstr>
      <vt:lpstr>PowerPoint Presentation</vt:lpstr>
      <vt:lpstr>PowerPoint Presentation</vt:lpstr>
      <vt:lpstr>Degradation of TCR in solution</vt:lpstr>
      <vt:lpstr>Methods and materials</vt:lpstr>
      <vt:lpstr>Intracellular stain</vt:lpstr>
      <vt:lpstr>PowerPoint Presentation</vt:lpstr>
      <vt:lpstr>PowerPoint Presentation</vt:lpstr>
      <vt:lpstr>Internalization of TCR in solution</vt:lpstr>
      <vt:lpstr>Methods and materials</vt:lpstr>
      <vt:lpstr>Extracellular stain (secondary antibody only)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Wolfgang Schamel</dc:creator>
  <cp:lastModifiedBy>Emmanuelle Moraes</cp:lastModifiedBy>
  <cp:revision>40</cp:revision>
  <dcterms:created xsi:type="dcterms:W3CDTF">2025-04-06T16:10:34Z</dcterms:created>
  <dcterms:modified xsi:type="dcterms:W3CDTF">2026-04-13T09:02:32Z</dcterms:modified>
</cp:coreProperties>
</file>